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30"/>
  </p:notesMasterIdLst>
  <p:sldIdLst>
    <p:sldId id="256" r:id="rId2"/>
    <p:sldId id="257" r:id="rId3"/>
    <p:sldId id="260" r:id="rId4"/>
    <p:sldId id="258" r:id="rId5"/>
    <p:sldId id="266" r:id="rId6"/>
    <p:sldId id="261" r:id="rId7"/>
    <p:sldId id="276" r:id="rId8"/>
    <p:sldId id="268" r:id="rId9"/>
    <p:sldId id="277" r:id="rId10"/>
    <p:sldId id="269" r:id="rId11"/>
    <p:sldId id="278" r:id="rId12"/>
    <p:sldId id="270" r:id="rId13"/>
    <p:sldId id="279" r:id="rId14"/>
    <p:sldId id="271" r:id="rId15"/>
    <p:sldId id="280" r:id="rId16"/>
    <p:sldId id="265" r:id="rId17"/>
    <p:sldId id="281" r:id="rId18"/>
    <p:sldId id="275" r:id="rId19"/>
    <p:sldId id="282" r:id="rId20"/>
    <p:sldId id="274" r:id="rId21"/>
    <p:sldId id="283" r:id="rId22"/>
    <p:sldId id="273" r:id="rId23"/>
    <p:sldId id="284" r:id="rId24"/>
    <p:sldId id="272" r:id="rId25"/>
    <p:sldId id="285" r:id="rId26"/>
    <p:sldId id="263" r:id="rId27"/>
    <p:sldId id="264" r:id="rId28"/>
    <p:sldId id="259" r:id="rId2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01"/>
    <a:srgbClr val="F9F9F9"/>
    <a:srgbClr val="F8F8F8"/>
    <a:srgbClr val="F5F5F5"/>
    <a:srgbClr val="E6E6E6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5" d="100"/>
          <a:sy n="65" d="100"/>
        </p:scale>
        <p:origin x="38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617B0-7D09-4606-B586-C38458B832C1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0CC5B3-74C0-4006-9F49-3B32F179954A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7372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72678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48615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7364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57058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0294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23535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267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48666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2036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9416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350847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16071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21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172758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23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081250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0CC5B3-74C0-4006-9F49-3B32F179954A}" type="slidenum">
              <a:rPr lang="hr-HR" smtClean="0"/>
              <a:t>25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961538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 smtClean="0"/>
              <a:t>Uredite stil podnaslova matrice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7063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59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5211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5096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4" name="Rezervirano mjesto sadržaja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5" name="Rezervirano mjesto teksta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6" name="Rezervirano mjesto sadržaja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7" name="Rezervirano mjesto datum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8" name="Rezervirano mjesto podnožj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88126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7891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3" name="Rezervirano mjesto podnožj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99228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71451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slik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 smtClean="0"/>
              <a:t>Uredite stilove teksta matrice</a:t>
            </a:r>
          </a:p>
        </p:txBody>
      </p:sp>
      <p:sp>
        <p:nvSpPr>
          <p:cNvPr id="5" name="Rezervirano mjesto datum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2609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4450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okomitog teksta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91405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 smtClean="0"/>
              <a:t>Uredite stil naslova matrice</a:t>
            </a:r>
            <a:endParaRPr lang="hr-HR"/>
          </a:p>
        </p:txBody>
      </p:sp>
      <p:sp>
        <p:nvSpPr>
          <p:cNvPr id="3" name="Rezervirano mjesto teksta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 smtClean="0"/>
              <a:t>Uredite stilove teksta matrice</a:t>
            </a:r>
          </a:p>
          <a:p>
            <a:pPr lvl="1"/>
            <a:r>
              <a:rPr lang="hr-HR" smtClean="0"/>
              <a:t>Druga razina</a:t>
            </a:r>
          </a:p>
          <a:p>
            <a:pPr lvl="2"/>
            <a:r>
              <a:rPr lang="hr-HR" smtClean="0"/>
              <a:t>Treća razina</a:t>
            </a:r>
          </a:p>
          <a:p>
            <a:pPr lvl="3"/>
            <a:r>
              <a:rPr lang="hr-HR" smtClean="0"/>
              <a:t>Četvrta razina</a:t>
            </a:r>
          </a:p>
          <a:p>
            <a:pPr lvl="4"/>
            <a:r>
              <a:rPr lang="hr-HR" smtClean="0"/>
              <a:t>Peta razina</a:t>
            </a:r>
            <a:endParaRPr lang="hr-HR"/>
          </a:p>
        </p:txBody>
      </p:sp>
      <p:sp>
        <p:nvSpPr>
          <p:cNvPr id="4" name="Rezervirano mjesto datum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40097-94C1-4BE0-9237-802C653BF399}" type="datetimeFigureOut">
              <a:rPr lang="hr-HR" smtClean="0"/>
              <a:t>26.2.2021.</a:t>
            </a:fld>
            <a:endParaRPr lang="hr-HR"/>
          </a:p>
        </p:txBody>
      </p:sp>
      <p:sp>
        <p:nvSpPr>
          <p:cNvPr id="5" name="Rezervirano mjesto podnožj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52BA8-4CC3-4855-9E5A-706D11B48427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4339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2364"/>
            <a:ext cx="12192000" cy="5735636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sp>
        <p:nvSpPr>
          <p:cNvPr id="6" name="Pravokutnik 5"/>
          <p:cNvSpPr/>
          <p:nvPr/>
        </p:nvSpPr>
        <p:spPr>
          <a:xfrm>
            <a:off x="0" y="1122362"/>
            <a:ext cx="12192000" cy="5735638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2331427"/>
            <a:ext cx="9144000" cy="1177533"/>
          </a:xfrm>
        </p:spPr>
        <p:txBody>
          <a:bodyPr/>
          <a:lstStyle/>
          <a:p>
            <a:r>
              <a:rPr lang="hr-HR" b="1" dirty="0" smtClean="0">
                <a:solidFill>
                  <a:srgbClr val="0066CC"/>
                </a:solidFill>
                <a:effectLst>
                  <a:glow rad="1905000">
                    <a:schemeClr val="bg1">
                      <a:alpha val="60000"/>
                    </a:schemeClr>
                  </a:glow>
                </a:effectLst>
                <a:latin typeface="Coda" panose="020B0500000000000004" pitchFamily="34" charset="0"/>
              </a:rPr>
              <a:t>EXTREME SPORTS</a:t>
            </a:r>
            <a:endParaRPr lang="hr-HR" b="1" dirty="0">
              <a:solidFill>
                <a:srgbClr val="0066CC"/>
              </a:solidFill>
              <a:effectLst>
                <a:glow rad="1905000">
                  <a:schemeClr val="bg1">
                    <a:alpha val="60000"/>
                  </a:schemeClr>
                </a:glow>
              </a:effectLst>
              <a:latin typeface="Coda" panose="020B0500000000000004" pitchFamily="34" charset="0"/>
            </a:endParaRP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996946" y="3853498"/>
            <a:ext cx="5819736" cy="961571"/>
          </a:xfrm>
        </p:spPr>
        <p:txBody>
          <a:bodyPr>
            <a:normAutofit/>
          </a:bodyPr>
          <a:lstStyle/>
          <a:p>
            <a:pPr algn="l"/>
            <a:r>
              <a:rPr lang="hr-HR" b="1" dirty="0" smtClean="0">
                <a:latin typeface="Coda" panose="020B0500000000000004" pitchFamily="34" charset="0"/>
              </a:rPr>
              <a:t>Izradili:</a:t>
            </a:r>
            <a:r>
              <a:rPr lang="hr-HR" b="1" dirty="0">
                <a:latin typeface="Coda" panose="020B0500000000000004" pitchFamily="34" charset="0"/>
              </a:rPr>
              <a:t>	</a:t>
            </a:r>
            <a:r>
              <a:rPr lang="hr-HR" dirty="0">
                <a:latin typeface="Coda" panose="020B0500000000000004" pitchFamily="34" charset="0"/>
              </a:rPr>
              <a:t>Mirko </a:t>
            </a:r>
            <a:r>
              <a:rPr lang="hr-HR" dirty="0" err="1" smtClean="0">
                <a:latin typeface="Coda" panose="020B0500000000000004" pitchFamily="34" charset="0"/>
              </a:rPr>
              <a:t>Braić</a:t>
            </a:r>
            <a:r>
              <a:rPr lang="hr-HR" dirty="0" smtClean="0">
                <a:latin typeface="Coda" panose="020B0500000000000004" pitchFamily="34" charset="0"/>
              </a:rPr>
              <a:t>,</a:t>
            </a:r>
          </a:p>
          <a:p>
            <a:pPr algn="l"/>
            <a:r>
              <a:rPr lang="hr-HR" dirty="0">
                <a:latin typeface="Coda" panose="020B0500000000000004" pitchFamily="34" charset="0"/>
              </a:rPr>
              <a:t>	</a:t>
            </a:r>
            <a:r>
              <a:rPr lang="hr-HR" dirty="0" smtClean="0">
                <a:latin typeface="Coda" panose="020B0500000000000004" pitchFamily="34" charset="0"/>
              </a:rPr>
              <a:t>	Dina </a:t>
            </a:r>
            <a:r>
              <a:rPr lang="hr-HR" dirty="0">
                <a:latin typeface="Coda" panose="020B0500000000000004" pitchFamily="34" charset="0"/>
              </a:rPr>
              <a:t>Cvitanović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08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8199" y="1545807"/>
            <a:ext cx="10515600" cy="1325563"/>
          </a:xfrm>
        </p:spPr>
        <p:txBody>
          <a:bodyPr/>
          <a:lstStyle/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Zadaće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7" name="Rezervirano mjesto sadržaja 2"/>
          <p:cNvSpPr txBox="1">
            <a:spLocks/>
          </p:cNvSpPr>
          <p:nvPr/>
        </p:nvSpPr>
        <p:spPr>
          <a:xfrm>
            <a:off x="838200" y="27488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Online trgovina sportske opreme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Ponude putovanja s naglaskom na sportske aktivnosti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Blog objave o putovanjima i sportovima</a:t>
            </a:r>
          </a:p>
        </p:txBody>
      </p:sp>
    </p:spTree>
    <p:extLst>
      <p:ext uri="{BB962C8B-B14F-4D97-AF65-F5344CB8AC3E}">
        <p14:creationId xmlns:p14="http://schemas.microsoft.com/office/powerpoint/2010/main" val="6191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38200" y="1538989"/>
            <a:ext cx="10515600" cy="1325563"/>
          </a:xfrm>
        </p:spPr>
        <p:txBody>
          <a:bodyPr/>
          <a:lstStyle/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Ciljevi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7" name="Rezervirano mjesto sadržaja 2"/>
          <p:cNvSpPr txBox="1">
            <a:spLocks/>
          </p:cNvSpPr>
          <p:nvPr/>
        </p:nvSpPr>
        <p:spPr>
          <a:xfrm>
            <a:off x="838200" y="27488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Jednostavnost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Ugodno korištenje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Minimalistički dizajn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smtClean="0">
                <a:latin typeface="Coda" panose="020B0500000000000004" pitchFamily="34" charset="0"/>
              </a:rPr>
              <a:t>Sigurnost</a:t>
            </a: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dirty="0" err="1" smtClean="0">
                <a:latin typeface="Coda" panose="020B0500000000000004" pitchFamily="34" charset="0"/>
              </a:rPr>
              <a:t>Responzivnost</a:t>
            </a:r>
            <a:endParaRPr lang="hr-HR" dirty="0" smtClean="0"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08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zervirano mjesto sadržaja 7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84"/>
          <a:stretch/>
        </p:blipFill>
        <p:spPr>
          <a:xfrm>
            <a:off x="838200" y="3281178"/>
            <a:ext cx="10515600" cy="1963062"/>
          </a:xfrm>
        </p:spPr>
      </p:pic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Tijek projekta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3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2364"/>
            <a:ext cx="12192000" cy="5735636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sp>
        <p:nvSpPr>
          <p:cNvPr id="6" name="Pravokutnik 5"/>
          <p:cNvSpPr/>
          <p:nvPr/>
        </p:nvSpPr>
        <p:spPr>
          <a:xfrm>
            <a:off x="0" y="1122362"/>
            <a:ext cx="12192000" cy="5735638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602581"/>
            <a:ext cx="9144000" cy="2387600"/>
          </a:xfrm>
        </p:spPr>
        <p:txBody>
          <a:bodyPr/>
          <a:lstStyle/>
          <a:p>
            <a:r>
              <a:rPr lang="hr-HR" b="1" dirty="0" smtClean="0">
                <a:solidFill>
                  <a:srgbClr val="0066CC"/>
                </a:solidFill>
                <a:effectLst>
                  <a:glow rad="228600">
                    <a:schemeClr val="bg1">
                      <a:alpha val="40000"/>
                    </a:schemeClr>
                  </a:glow>
                </a:effectLst>
                <a:latin typeface="Coda" panose="020B0500000000000004" pitchFamily="34" charset="0"/>
              </a:rPr>
              <a:t>Evaluacija dizajna…</a:t>
            </a:r>
            <a:endParaRPr lang="hr-HR" b="1" dirty="0">
              <a:solidFill>
                <a:srgbClr val="0066CC"/>
              </a:solidFill>
              <a:effectLst>
                <a:glow rad="228600">
                  <a:schemeClr val="bg1">
                    <a:alpha val="40000"/>
                  </a:schemeClr>
                </a:glow>
              </a:effectLst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2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Podudaranje stvarnog svijeta sa sustavom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Konzistencija i standardi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Vidljivost  statusa sustava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Korisnička sloboda i kontrola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Sprječavanje grešaka</a:t>
            </a:r>
          </a:p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05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678" y="1666875"/>
            <a:ext cx="5710644" cy="4668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75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Podudaranje stvarnog svijeta sa sustavom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Konzistencija i standardi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Vidljivost  statusa sustava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Korisnička sloboda i kontrola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Sprječavanje grešaka</a:t>
            </a:r>
          </a:p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95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pic>
        <p:nvPicPr>
          <p:cNvPr id="1026" name="Picture 2" descr="colo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2" b="6389"/>
          <a:stretch>
            <a:fillRect/>
          </a:stretch>
        </p:blipFill>
        <p:spPr bwMode="auto">
          <a:xfrm>
            <a:off x="2973233" y="3036857"/>
            <a:ext cx="6245533" cy="1928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448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Podudaranje stvarnog svijeta sa sustavom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Konzistencija i standardi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Vidljivost  statusa sustava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Korisnička sloboda i kontrola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Sprječavanje grešaka</a:t>
            </a:r>
          </a:p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836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6" name="Slika 5"/>
          <p:cNvPicPr>
            <a:picLocks noChangeAspect="1"/>
          </p:cNvPicPr>
          <p:nvPr/>
        </p:nvPicPr>
        <p:blipFill rotWithShape="1">
          <a:blip r:embed="rId4"/>
          <a:srcRect t="1992"/>
          <a:stretch/>
        </p:blipFill>
        <p:spPr>
          <a:xfrm>
            <a:off x="-1652954" y="363415"/>
            <a:ext cx="13844954" cy="64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900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Podudaranje stvarnog svijeta sa sustavom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Konzistencija i standardi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Vidljivost  statusa sustava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Korisnička sloboda i kontrola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Sprječavanje grešaka</a:t>
            </a:r>
          </a:p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499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" name="Slika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007" y="1441938"/>
            <a:ext cx="4739054" cy="512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82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Podudaranje stvarnog svijeta sa sustavom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Konzistencija i standardi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Vidljivost  statusa sustava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latin typeface="Coda" panose="020B0500000000000004" pitchFamily="34" charset="0"/>
              </a:rPr>
              <a:t>Korisnička sloboda i kontrola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Sprječavanje grešaka</a:t>
            </a:r>
          </a:p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953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" name="Slika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35" y="1122361"/>
            <a:ext cx="11462330" cy="573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4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Detekcija i oporavak od greške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Prepoznavanje umjesto prisjećanja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Fleksibilnost i efikasnost korištenja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Estetika i minimalistički </a:t>
            </a:r>
            <a:r>
              <a:rPr lang="hr-HR" dirty="0" smtClean="0">
                <a:latin typeface="Coda" panose="020B0500000000000004" pitchFamily="34" charset="0"/>
              </a:rPr>
              <a:t>dizajn</a:t>
            </a: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Pomoć i dokumentacija</a:t>
            </a:r>
            <a:endParaRPr lang="hr-HR" dirty="0"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4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pic>
        <p:nvPicPr>
          <p:cNvPr id="3" name="Slika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8963" y="1137811"/>
            <a:ext cx="4694073" cy="5735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72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Detekcija i oporavak od greške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Prepoznavanje umjesto prisjećanja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Fleksibilnost i efikasnost korištenja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Estetika i minimalistički </a:t>
            </a:r>
            <a:r>
              <a:rPr lang="hr-HR" dirty="0" smtClean="0">
                <a:latin typeface="Coda" panose="020B0500000000000004" pitchFamily="34" charset="0"/>
              </a:rPr>
              <a:t>dizajn</a:t>
            </a: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Pomoć i dokumentacija</a:t>
            </a:r>
            <a:endParaRPr lang="hr-HR" dirty="0"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94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66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Detekcija i oporavak od greške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Prepoznavanje umjesto prisjećanja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Fleksibilnost i efikasnost korištenja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Estetika i minimalistički </a:t>
            </a:r>
            <a:r>
              <a:rPr lang="hr-HR" dirty="0" smtClean="0">
                <a:latin typeface="Coda" panose="020B0500000000000004" pitchFamily="34" charset="0"/>
              </a:rPr>
              <a:t>dizajn</a:t>
            </a: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Pomoć i dokumentacija</a:t>
            </a:r>
            <a:endParaRPr lang="hr-HR" dirty="0"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98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3093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Detekcija i oporavak od greške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Prepoznavanje umjesto prisjećanja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Fleksibilnost i efikasnost korištenja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Estetika i minimalistički </a:t>
            </a: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dizajn</a:t>
            </a:r>
            <a:endParaRPr lang="hr-HR" dirty="0" smtClean="0">
              <a:solidFill>
                <a:srgbClr val="FF5C01"/>
              </a:solidFill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Pomoć i dokumentacija</a:t>
            </a:r>
            <a:endParaRPr lang="hr-HR" dirty="0"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21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73063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838200" y="27488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Clr>
                <a:srgbClr val="0066CC"/>
              </a:buClr>
              <a:buNone/>
            </a:pPr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…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Detekcija i oporavak od greške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Prepoznavanje umjesto prisjećanja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Fleksibilnost i efikasnost korištenja</a:t>
            </a: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latin typeface="Coda" panose="020B0500000000000004" pitchFamily="34" charset="0"/>
              </a:rPr>
              <a:t>Estetika i minimalistički </a:t>
            </a:r>
            <a:r>
              <a:rPr lang="hr-HR" dirty="0" smtClean="0">
                <a:latin typeface="Coda" panose="020B0500000000000004" pitchFamily="34" charset="0"/>
              </a:rPr>
              <a:t>dizajn</a:t>
            </a:r>
            <a:endParaRPr lang="hr-HR" dirty="0" smtClean="0">
              <a:latin typeface="Coda" panose="020B0500000000000004" pitchFamily="34" charset="0"/>
            </a:endParaRPr>
          </a:p>
          <a:p>
            <a:pPr marL="514350" indent="-514350">
              <a:buClr>
                <a:srgbClr val="0066CC"/>
              </a:buClr>
              <a:buFont typeface="+mj-lt"/>
              <a:buAutoNum type="arabicPeriod" startAt="6"/>
            </a:pPr>
            <a:r>
              <a:rPr lang="hr-HR" dirty="0" smtClean="0">
                <a:solidFill>
                  <a:srgbClr val="FF5C01"/>
                </a:solidFill>
                <a:latin typeface="Coda" panose="020B0500000000000004" pitchFamily="34" charset="0"/>
              </a:rPr>
              <a:t>Pomoć i dokumentacija</a:t>
            </a:r>
            <a:endParaRPr lang="hr-HR" dirty="0">
              <a:solidFill>
                <a:srgbClr val="FF5C01"/>
              </a:solidFill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Heuristike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38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2" name="Rezervirano mjesto sadržaja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157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zervirano mjesto teksta 13"/>
          <p:cNvSpPr>
            <a:spLocks noGrp="1"/>
          </p:cNvSpPr>
          <p:nvPr>
            <p:ph type="body" idx="1"/>
          </p:nvPr>
        </p:nvSpPr>
        <p:spPr>
          <a:xfrm>
            <a:off x="839788" y="2757608"/>
            <a:ext cx="5157787" cy="823912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0066CC"/>
              </a:buClr>
              <a:buFont typeface="+mj-lt"/>
              <a:buAutoNum type="arabicPeriod"/>
            </a:pPr>
            <a:r>
              <a:rPr lang="hr-HR" sz="2800" b="0" dirty="0" err="1" smtClean="0">
                <a:latin typeface="Coda" panose="020B0500000000000004" pitchFamily="34" charset="0"/>
              </a:rPr>
              <a:t>Fittsov</a:t>
            </a:r>
            <a:r>
              <a:rPr lang="hr-HR" sz="2800" b="0" dirty="0" smtClean="0">
                <a:latin typeface="Coda" panose="020B0500000000000004" pitchFamily="34" charset="0"/>
              </a:rPr>
              <a:t> zakon</a:t>
            </a:r>
          </a:p>
        </p:txBody>
      </p:sp>
      <p:sp>
        <p:nvSpPr>
          <p:cNvPr id="15" name="Rezervirano mjesto teksta 14"/>
          <p:cNvSpPr>
            <a:spLocks noGrp="1"/>
          </p:cNvSpPr>
          <p:nvPr>
            <p:ph type="body" sz="quarter" idx="3"/>
          </p:nvPr>
        </p:nvSpPr>
        <p:spPr>
          <a:xfrm>
            <a:off x="6172200" y="2757608"/>
            <a:ext cx="5183188" cy="823912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0066CC"/>
              </a:buClr>
              <a:buFont typeface="+mj-lt"/>
              <a:buAutoNum type="arabicPeriod" startAt="2"/>
            </a:pPr>
            <a:r>
              <a:rPr lang="hr-HR" sz="2800" b="0" dirty="0" err="1" smtClean="0">
                <a:latin typeface="Coda" panose="020B0500000000000004" pitchFamily="34" charset="0"/>
              </a:rPr>
              <a:t>Hickov</a:t>
            </a:r>
            <a:r>
              <a:rPr lang="hr-HR" sz="2800" b="0" dirty="0" smtClean="0">
                <a:latin typeface="Coda" panose="020B0500000000000004" pitchFamily="34" charset="0"/>
              </a:rPr>
              <a:t> zakon</a:t>
            </a: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Teorije niske razine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  <p:pic>
        <p:nvPicPr>
          <p:cNvPr id="9" name="Slika 8"/>
          <p:cNvPicPr/>
          <p:nvPr/>
        </p:nvPicPr>
        <p:blipFill rotWithShape="1">
          <a:blip r:embed="rId3"/>
          <a:srcRect l="40049" t="55208" r="52589" b="39951"/>
          <a:stretch/>
        </p:blipFill>
        <p:spPr bwMode="auto">
          <a:xfrm>
            <a:off x="1160740" y="4195405"/>
            <a:ext cx="2897506" cy="120946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4283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  <p:sp>
        <p:nvSpPr>
          <p:cNvPr id="6" name="Naslov 1"/>
          <p:cNvSpPr txBox="1">
            <a:spLocks/>
          </p:cNvSpPr>
          <p:nvPr/>
        </p:nvSpPr>
        <p:spPr>
          <a:xfrm>
            <a:off x="838200" y="15389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 smtClean="0">
                <a:solidFill>
                  <a:srgbClr val="0066CC"/>
                </a:solidFill>
                <a:latin typeface="Coda" panose="020B0500000000000004" pitchFamily="34" charset="0"/>
              </a:rPr>
              <a:t>CRAP principi</a:t>
            </a:r>
            <a:endParaRPr lang="hr-HR" dirty="0">
              <a:solidFill>
                <a:srgbClr val="0066CC"/>
              </a:solidFill>
              <a:latin typeface="Coda" panose="020B0500000000000004" pitchFamily="34" charset="0"/>
            </a:endParaRPr>
          </a:p>
        </p:txBody>
      </p:sp>
      <p:sp>
        <p:nvSpPr>
          <p:cNvPr id="8" name="Rezervirano mjesto sadržaja 2"/>
          <p:cNvSpPr txBox="1">
            <a:spLocks/>
          </p:cNvSpPr>
          <p:nvPr/>
        </p:nvSpPr>
        <p:spPr>
          <a:xfrm>
            <a:off x="838200" y="274880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b="1" dirty="0" err="1" smtClean="0">
                <a:solidFill>
                  <a:srgbClr val="FF5C01"/>
                </a:solidFill>
                <a:latin typeface="Coda" panose="020B0500000000000004" pitchFamily="34" charset="0"/>
              </a:rPr>
              <a:t>C</a:t>
            </a:r>
            <a:r>
              <a:rPr lang="hr-HR" dirty="0" err="1" smtClean="0">
                <a:latin typeface="Coda" panose="020B0500000000000004" pitchFamily="34" charset="0"/>
              </a:rPr>
              <a:t>ontrast</a:t>
            </a:r>
            <a:endParaRPr lang="hr-HR" dirty="0" smtClean="0">
              <a:latin typeface="Coda" panose="020B0500000000000004" pitchFamily="34" charset="0"/>
            </a:endParaRP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b="1" dirty="0" err="1" smtClean="0">
                <a:solidFill>
                  <a:srgbClr val="FF5C01"/>
                </a:solidFill>
                <a:latin typeface="Coda" panose="020B0500000000000004" pitchFamily="34" charset="0"/>
              </a:rPr>
              <a:t>R</a:t>
            </a:r>
            <a:r>
              <a:rPr lang="hr-HR" dirty="0" err="1" smtClean="0">
                <a:latin typeface="Coda" panose="020B0500000000000004" pitchFamily="34" charset="0"/>
              </a:rPr>
              <a:t>epetiton</a:t>
            </a:r>
            <a:endParaRPr lang="hr-HR" dirty="0" smtClean="0">
              <a:latin typeface="Coda" panose="020B0500000000000004" pitchFamily="34" charset="0"/>
            </a:endParaRP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b="1" dirty="0" err="1" smtClean="0">
                <a:solidFill>
                  <a:srgbClr val="FF5C01"/>
                </a:solidFill>
                <a:latin typeface="Coda" panose="020B0500000000000004" pitchFamily="34" charset="0"/>
              </a:rPr>
              <a:t>A</a:t>
            </a:r>
            <a:r>
              <a:rPr lang="hr-HR" dirty="0" err="1" smtClean="0">
                <a:latin typeface="Coda" panose="020B0500000000000004" pitchFamily="34" charset="0"/>
              </a:rPr>
              <a:t>lignment</a:t>
            </a:r>
            <a:endParaRPr lang="hr-HR" dirty="0" smtClean="0">
              <a:latin typeface="Coda" panose="020B0500000000000004" pitchFamily="34" charset="0"/>
            </a:endParaRPr>
          </a:p>
          <a:p>
            <a:pPr>
              <a:buClr>
                <a:srgbClr val="0066CC"/>
              </a:buClr>
              <a:buFont typeface="Wingdings" panose="05000000000000000000" pitchFamily="2" charset="2"/>
              <a:buChar char="§"/>
            </a:pPr>
            <a:r>
              <a:rPr lang="hr-HR" b="1" dirty="0" err="1" smtClean="0">
                <a:solidFill>
                  <a:srgbClr val="FF5C01"/>
                </a:solidFill>
                <a:latin typeface="Coda" panose="020B0500000000000004" pitchFamily="34" charset="0"/>
              </a:rPr>
              <a:t>P</a:t>
            </a:r>
            <a:r>
              <a:rPr lang="hr-HR" dirty="0" err="1" smtClean="0">
                <a:latin typeface="Coda" panose="020B0500000000000004" pitchFamily="34" charset="0"/>
              </a:rPr>
              <a:t>roximity</a:t>
            </a:r>
            <a:endParaRPr lang="hr-HR" dirty="0">
              <a:latin typeface="Coda" panose="020B050000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9100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2364"/>
            <a:ext cx="12192000" cy="5735636"/>
          </a:xfrm>
          <a:prstGeom prst="rect">
            <a:avLst/>
          </a:prstGeom>
          <a:noFill/>
          <a:ln>
            <a:noFill/>
          </a:ln>
          <a:effectLst>
            <a:softEdge rad="0"/>
          </a:effectLst>
        </p:spPr>
      </p:pic>
      <p:sp>
        <p:nvSpPr>
          <p:cNvPr id="6" name="Pravokutnik 5"/>
          <p:cNvSpPr/>
          <p:nvPr/>
        </p:nvSpPr>
        <p:spPr>
          <a:xfrm>
            <a:off x="0" y="1122362"/>
            <a:ext cx="12192000" cy="5735638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524000" y="1602581"/>
            <a:ext cx="9144000" cy="2387600"/>
          </a:xfrm>
        </p:spPr>
        <p:txBody>
          <a:bodyPr/>
          <a:lstStyle/>
          <a:p>
            <a:r>
              <a:rPr lang="hr-HR" b="1" dirty="0" smtClean="0">
                <a:solidFill>
                  <a:srgbClr val="0066CC"/>
                </a:solidFill>
                <a:effectLst>
                  <a:glow rad="1905000">
                    <a:schemeClr val="bg1">
                      <a:alpha val="60000"/>
                    </a:schemeClr>
                  </a:glow>
                </a:effectLst>
                <a:latin typeface="Coda" panose="020B0500000000000004" pitchFamily="34" charset="0"/>
              </a:rPr>
              <a:t>Demo aplikacije…</a:t>
            </a:r>
            <a:endParaRPr lang="hr-HR" b="1" dirty="0">
              <a:solidFill>
                <a:srgbClr val="0066CC"/>
              </a:solidFill>
              <a:effectLst>
                <a:glow rad="1905000">
                  <a:schemeClr val="bg1">
                    <a:alpha val="60000"/>
                  </a:schemeClr>
                </a:glow>
              </a:effectLst>
              <a:latin typeface="Coda" panose="020B0500000000000004" pitchFamily="34" charset="0"/>
            </a:endParaRPr>
          </a:p>
        </p:txBody>
      </p:sp>
      <p:sp>
        <p:nvSpPr>
          <p:cNvPr id="4" name="Pravokutnik 3"/>
          <p:cNvSpPr/>
          <p:nvPr/>
        </p:nvSpPr>
        <p:spPr>
          <a:xfrm>
            <a:off x="0" y="0"/>
            <a:ext cx="12192000" cy="1122363"/>
          </a:xfrm>
          <a:prstGeom prst="rect">
            <a:avLst/>
          </a:prstGeom>
          <a:solidFill>
            <a:srgbClr val="00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7" name="Slika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30" y="146676"/>
            <a:ext cx="829010" cy="82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995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</TotalTime>
  <Words>266</Words>
  <Application>Microsoft Office PowerPoint</Application>
  <PresentationFormat>Široki zaslon</PresentationFormat>
  <Paragraphs>114</Paragraphs>
  <Slides>28</Slides>
  <Notes>15</Notes>
  <HiddenSlides>0</HiddenSlides>
  <MMClips>0</MMClips>
  <ScaleCrop>false</ScaleCrop>
  <HeadingPairs>
    <vt:vector size="6" baseType="variant">
      <vt:variant>
        <vt:lpstr>Korišteni fontovi</vt:lpstr>
      </vt:variant>
      <vt:variant>
        <vt:i4>5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Coda</vt:lpstr>
      <vt:lpstr>Wingdings</vt:lpstr>
      <vt:lpstr>Tema sustava Office</vt:lpstr>
      <vt:lpstr>EXTREME SPORTS</vt:lpstr>
      <vt:lpstr>Zadaće</vt:lpstr>
      <vt:lpstr>Ciljevi</vt:lpstr>
      <vt:lpstr>PowerPointova prezentacija</vt:lpstr>
      <vt:lpstr>Evaluacija dizajna…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PowerPointova prezentacija</vt:lpstr>
      <vt:lpstr>Demo aplikacije…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EXTREME SPORTS</dc:title>
  <dc:creator>Dina Cvitanović</dc:creator>
  <cp:lastModifiedBy>Dina Cvitanović</cp:lastModifiedBy>
  <cp:revision>16</cp:revision>
  <dcterms:created xsi:type="dcterms:W3CDTF">2021-02-20T07:43:21Z</dcterms:created>
  <dcterms:modified xsi:type="dcterms:W3CDTF">2021-02-26T07:17:48Z</dcterms:modified>
</cp:coreProperties>
</file>